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4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29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2180630"/>
            <a:ext cx="2143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Loan Approval Prediction System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3143250" y="714375"/>
            <a:ext cx="5572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MACHINE LEARNING APPROACH</a:t>
            </a:r>
            <a:endParaRPr lang="en-US" sz="1193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1401961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4713" y="1350169"/>
            <a:ext cx="23717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Automation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3414713" y="1580555"/>
            <a:ext cx="2371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Revolutionizing loan approval with high-precision classification models.</a:t>
            </a:r>
            <a:endParaRPr lang="en-US" sz="83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88" y="1401961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9375" y="1350169"/>
            <a:ext cx="2286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Reduction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6429375" y="158055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decision making to ensure consistency and eliminate human subjectivity.</a:t>
            </a:r>
            <a:endParaRPr lang="en-US" sz="834" dirty="0"/>
          </a:p>
        </p:txBody>
      </p:sp>
      <p:sp>
        <p:nvSpPr>
          <p:cNvPr id="12" name="Text 7"/>
          <p:cNvSpPr/>
          <p:nvPr/>
        </p:nvSpPr>
        <p:spPr>
          <a:xfrm>
            <a:off x="3286125" y="2380655"/>
            <a:ext cx="25003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Analysis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3286125" y="2611041"/>
            <a:ext cx="2500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Income, Credit History, and behavioral indicators for robust risk modeling.</a:t>
            </a:r>
            <a:endParaRPr lang="en-US" sz="834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88" y="2432447"/>
            <a:ext cx="192881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7944" y="2380655"/>
            <a:ext cx="23074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Classification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6407944" y="2611041"/>
            <a:ext cx="23074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clear Approved/Rejected outcomes as reliable decision support.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27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14350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Engineering &amp; Preprocessing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03697"/>
            <a:ext cx="8572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MODEL ROBUSTNESS THROUGH SYSTEMATIC DATA SANITIZATION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1107281" y="1891308"/>
            <a:ext cx="714375" cy="714375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453" y="2105620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2779" y="2784277"/>
            <a:ext cx="13233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Integrity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571500" y="3320058"/>
            <a:ext cx="1785938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the Kaggle Loan Prediction dataset, a standard benchmark for credit risk modeling.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178969" y="1891308"/>
            <a:ext cx="714375" cy="714375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281" y="2105620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89622" y="2784277"/>
            <a:ext cx="1693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2643188" y="3320058"/>
            <a:ext cx="17859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Removal of non-predictive identifiers to focus on behavioral and financial indicators.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250656" y="1891308"/>
            <a:ext cx="714375" cy="714375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05620"/>
            <a:ext cx="357188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04184" y="2784277"/>
            <a:ext cx="14073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Sanitization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4714875" y="3320058"/>
            <a:ext cx="17859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mode imputation for missing values to maintain dataset volume without bias.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7322344" y="1891308"/>
            <a:ext cx="714375" cy="714375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38" y="2105620"/>
            <a:ext cx="357188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29438" y="2784277"/>
            <a:ext cx="1500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 Pipeline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6786563" y="3320058"/>
            <a:ext cx="17859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of categorical variables into numerical formats via Label Encoding.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571500" y="4480136"/>
            <a:ext cx="8001000" cy="7625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571500" y="4480136"/>
            <a:ext cx="8001000" cy="7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6"/>
          <p:cNvSpPr/>
          <p:nvPr/>
        </p:nvSpPr>
        <p:spPr>
          <a:xfrm>
            <a:off x="2380655" y="4765886"/>
            <a:ext cx="9090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24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600+</a:t>
            </a:r>
            <a:endParaRPr lang="en-US" sz="1924" dirty="0"/>
          </a:p>
        </p:txBody>
      </p:sp>
      <p:sp>
        <p:nvSpPr>
          <p:cNvPr id="24" name="Text 17"/>
          <p:cNvSpPr/>
          <p:nvPr/>
        </p:nvSpPr>
        <p:spPr>
          <a:xfrm>
            <a:off x="2380655" y="5114144"/>
            <a:ext cx="90904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SAMPLES</a:t>
            </a:r>
            <a:endParaRPr lang="en-US" sz="727" dirty="0"/>
          </a:p>
        </p:txBody>
      </p:sp>
      <p:sp>
        <p:nvSpPr>
          <p:cNvPr id="25" name="Text 18"/>
          <p:cNvSpPr/>
          <p:nvPr/>
        </p:nvSpPr>
        <p:spPr>
          <a:xfrm>
            <a:off x="4004072" y="4765886"/>
            <a:ext cx="9429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24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924" dirty="0"/>
          </a:p>
        </p:txBody>
      </p:sp>
      <p:sp>
        <p:nvSpPr>
          <p:cNvPr id="26" name="Text 19"/>
          <p:cNvSpPr/>
          <p:nvPr/>
        </p:nvSpPr>
        <p:spPr>
          <a:xfrm>
            <a:off x="4004072" y="5114144"/>
            <a:ext cx="9429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FEATURES</a:t>
            </a:r>
            <a:endParaRPr lang="en-US" sz="727" dirty="0"/>
          </a:p>
        </p:txBody>
      </p:sp>
      <p:sp>
        <p:nvSpPr>
          <p:cNvPr id="27" name="Text 20"/>
          <p:cNvSpPr/>
          <p:nvPr/>
        </p:nvSpPr>
        <p:spPr>
          <a:xfrm>
            <a:off x="5661422" y="4765886"/>
            <a:ext cx="110192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24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Cleaned</a:t>
            </a:r>
            <a:endParaRPr lang="en-US" sz="1924" dirty="0"/>
          </a:p>
        </p:txBody>
      </p:sp>
      <p:sp>
        <p:nvSpPr>
          <p:cNvPr id="28" name="Text 21"/>
          <p:cNvSpPr/>
          <p:nvPr/>
        </p:nvSpPr>
        <p:spPr>
          <a:xfrm>
            <a:off x="5661422" y="5114144"/>
            <a:ext cx="11019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STATUS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14350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Architecture &amp; Validation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03697"/>
            <a:ext cx="8572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LEARNING FOR HIGH-PRECISION FINANCIAL CLASSIFICATION</a:t>
            </a:r>
            <a:endParaRPr lang="en-US" sz="98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1447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462683"/>
            <a:ext cx="378032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921544" y="1725216"/>
            <a:ext cx="3780327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method utilizing multiple decision trees to capture non-linear relationships and ensure robust performance across diverse applicant profiles.</a:t>
            </a:r>
            <a:endParaRPr lang="en-US" sz="834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47054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1544" y="2495262"/>
            <a:ext cx="378032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80/20 Validation Strategy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921544" y="2757794"/>
            <a:ext cx="3780327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rigorous train-test split protocol ensures that model performance is validated on entirely unseen data, preventing overfitting and ensuring reliability.</a:t>
            </a:r>
            <a:endParaRPr lang="en-US" sz="83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79633"/>
            <a:ext cx="192881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2975" y="3527840"/>
            <a:ext cx="375889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 Optimization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942975" y="3790373"/>
            <a:ext cx="375889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is specifically tuned to navigate the complex correlations between credit history, income, and loan outcomes.</a:t>
            </a:r>
            <a:endParaRPr lang="en-US" sz="834" dirty="0"/>
          </a:p>
        </p:txBody>
      </p:sp>
      <p:sp>
        <p:nvSpPr>
          <p:cNvPr id="14" name="Shape 8"/>
          <p:cNvSpPr/>
          <p:nvPr/>
        </p:nvSpPr>
        <p:spPr>
          <a:xfrm>
            <a:off x="5130496" y="1462683"/>
            <a:ext cx="3442004" cy="2300288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16246" y="1748433"/>
            <a:ext cx="2316361" cy="223242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TECH STACK</a:t>
            </a:r>
            <a:endParaRPr lang="en-US" sz="98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246" y="2177951"/>
            <a:ext cx="100013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23415" y="2150269"/>
            <a:ext cx="11269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Ecosystem</a:t>
            </a:r>
            <a:endParaRPr lang="en-US" sz="942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6246" y="2440484"/>
            <a:ext cx="100013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23415" y="2412802"/>
            <a:ext cx="15234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(Data Structures)</a:t>
            </a:r>
            <a:endParaRPr lang="en-US" sz="942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6246" y="2703016"/>
            <a:ext cx="100013" cy="10001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623415" y="2675334"/>
            <a:ext cx="1982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(ML Implementation)</a:t>
            </a:r>
            <a:endParaRPr lang="en-US" sz="942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6246" y="2965549"/>
            <a:ext cx="100013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623415" y="2937867"/>
            <a:ext cx="1896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(Numerical Processing)</a:t>
            </a:r>
            <a:endParaRPr lang="en-US" sz="942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246" y="3228082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623415" y="3200400"/>
            <a:ext cx="1619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Joblib (Model Persistence)</a:t>
            </a:r>
            <a:endParaRPr lang="en-US" sz="942" dirty="0"/>
          </a:p>
        </p:txBody>
      </p:sp>
      <p:sp>
        <p:nvSpPr>
          <p:cNvPr id="26" name="Shape 15"/>
          <p:cNvSpPr/>
          <p:nvPr/>
        </p:nvSpPr>
        <p:spPr>
          <a:xfrm>
            <a:off x="5246833" y="4034433"/>
            <a:ext cx="285750" cy="2857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16"/>
          <p:cNvSpPr/>
          <p:nvPr/>
        </p:nvSpPr>
        <p:spPr>
          <a:xfrm>
            <a:off x="5246833" y="40344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584" dirty="0"/>
          </a:p>
        </p:txBody>
      </p:sp>
      <p:sp>
        <p:nvSpPr>
          <p:cNvPr id="28" name="Shape 17"/>
          <p:cNvSpPr/>
          <p:nvPr/>
        </p:nvSpPr>
        <p:spPr>
          <a:xfrm>
            <a:off x="5675458" y="4034433"/>
            <a:ext cx="285750" cy="2857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18"/>
          <p:cNvSpPr/>
          <p:nvPr/>
        </p:nvSpPr>
        <p:spPr>
          <a:xfrm>
            <a:off x="5675458" y="40344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</a:t>
            </a:r>
            <a:endParaRPr lang="en-US" sz="584" dirty="0"/>
          </a:p>
        </p:txBody>
      </p:sp>
      <p:sp>
        <p:nvSpPr>
          <p:cNvPr id="30" name="Shape 19"/>
          <p:cNvSpPr/>
          <p:nvPr/>
        </p:nvSpPr>
        <p:spPr>
          <a:xfrm>
            <a:off x="6104083" y="4034433"/>
            <a:ext cx="285750" cy="2857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0"/>
          <p:cNvSpPr/>
          <p:nvPr/>
        </p:nvSpPr>
        <p:spPr>
          <a:xfrm>
            <a:off x="6104083" y="40344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</a:t>
            </a:r>
            <a:endParaRPr lang="en-US" sz="584" dirty="0"/>
          </a:p>
        </p:txBody>
      </p:sp>
      <p:sp>
        <p:nvSpPr>
          <p:cNvPr id="32" name="Shape 21"/>
          <p:cNvSpPr/>
          <p:nvPr/>
        </p:nvSpPr>
        <p:spPr>
          <a:xfrm>
            <a:off x="6532708" y="4034433"/>
            <a:ext cx="285750" cy="2857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3" name="Text 22"/>
          <p:cNvSpPr/>
          <p:nvPr/>
        </p:nvSpPr>
        <p:spPr>
          <a:xfrm>
            <a:off x="6532708" y="40344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T4</a:t>
            </a:r>
            <a:endParaRPr lang="en-US" sz="584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2771" y="4089797"/>
            <a:ext cx="150019" cy="17145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7397102" y="4037112"/>
            <a:ext cx="1059061" cy="280392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6" name="Text 24"/>
          <p:cNvSpPr/>
          <p:nvPr/>
        </p:nvSpPr>
        <p:spPr>
          <a:xfrm>
            <a:off x="7397102" y="4037112"/>
            <a:ext cx="1059061" cy="28039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MODEL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14350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Analytics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03697"/>
            <a:ext cx="8572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BENCHMARKING MODEL RELIABILITY AND PREDICTIVE DRIVERS</a:t>
            </a:r>
            <a:endParaRPr lang="en-US" sz="98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64" y="1705682"/>
            <a:ext cx="2500313" cy="2500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52814" y="2608473"/>
            <a:ext cx="1014413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3294" dirty="0"/>
          </a:p>
        </p:txBody>
      </p:sp>
      <p:sp>
        <p:nvSpPr>
          <p:cNvPr id="7" name="Text 3"/>
          <p:cNvSpPr/>
          <p:nvPr/>
        </p:nvSpPr>
        <p:spPr>
          <a:xfrm>
            <a:off x="1752814" y="3165686"/>
            <a:ext cx="10144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kern="0" spc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1363480" y="4420307"/>
            <a:ext cx="17930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Prediction Benchmark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040" y="1486793"/>
            <a:ext cx="160734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7931" y="1462683"/>
            <a:ext cx="169306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Reliability</a:t>
            </a:r>
            <a:endParaRPr lang="en-US" sz="1090" dirty="0"/>
          </a:p>
        </p:txBody>
      </p:sp>
      <p:sp>
        <p:nvSpPr>
          <p:cNvPr id="11" name="Text 6"/>
          <p:cNvSpPr/>
          <p:nvPr/>
        </p:nvSpPr>
        <p:spPr>
          <a:xfrm>
            <a:off x="4520040" y="1725216"/>
            <a:ext cx="4052460" cy="365727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achieves a robust </a:t>
            </a:r>
            <a:r>
              <a:rPr lang="en-US" sz="784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accuracy</a:t>
            </a: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providing a high-confidence baseline for automated credit screening processes.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040" y="2372227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70072" y="2348117"/>
            <a:ext cx="15055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Dominant Feature</a:t>
            </a:r>
            <a:endParaRPr lang="en-US" sz="1090" dirty="0"/>
          </a:p>
        </p:txBody>
      </p:sp>
      <p:sp>
        <p:nvSpPr>
          <p:cNvPr id="14" name="Text 8"/>
          <p:cNvSpPr/>
          <p:nvPr/>
        </p:nvSpPr>
        <p:spPr>
          <a:xfrm>
            <a:off x="4520040" y="2610650"/>
            <a:ext cx="4052460" cy="365727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History</a:t>
            </a: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identified as the most critical predictor, significantly outweighing other financial variables in decision impact.</a:t>
            </a:r>
            <a:endParaRPr lang="en-US" sz="78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040" y="3257662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70072" y="3233551"/>
            <a:ext cx="168235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Balanced Evaluation</a:t>
            </a:r>
            <a:endParaRPr lang="en-US" sz="1090" dirty="0"/>
          </a:p>
        </p:txBody>
      </p:sp>
      <p:sp>
        <p:nvSpPr>
          <p:cNvPr id="17" name="Text 10"/>
          <p:cNvSpPr/>
          <p:nvPr/>
        </p:nvSpPr>
        <p:spPr>
          <a:xfrm>
            <a:off x="4520040" y="3496084"/>
            <a:ext cx="4052460" cy="365727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was cross-verified using </a:t>
            </a:r>
            <a:r>
              <a:rPr lang="en-US" sz="784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scores</a:t>
            </a: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classification reports to ensure balanced precision across all outcome classes.</a:t>
            </a:r>
            <a:endParaRPr lang="en-US" sz="834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0040" y="4143096"/>
            <a:ext cx="142875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770072" y="4118986"/>
            <a:ext cx="18573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Readiness</a:t>
            </a:r>
            <a:endParaRPr lang="en-US" sz="1090" dirty="0"/>
          </a:p>
        </p:txBody>
      </p:sp>
      <p:sp>
        <p:nvSpPr>
          <p:cNvPr id="20" name="Text 12"/>
          <p:cNvSpPr/>
          <p:nvPr/>
        </p:nvSpPr>
        <p:spPr>
          <a:xfrm>
            <a:off x="4520040" y="4381519"/>
            <a:ext cx="4052460" cy="365727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Serialized as </a:t>
            </a:r>
            <a:r>
              <a:rPr lang="en-US" sz="784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loan_model.pkl</a:t>
            </a: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system is fully prepared for immediate integration into production environments.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14350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Roadmap &amp; Conclusion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003697"/>
            <a:ext cx="85725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EVOLUTION AND PROJECT IMPACT SUMMARY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71500" y="1319808"/>
            <a:ext cx="428625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44839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4438" y="1319808"/>
            <a:ext cx="73580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&amp; Adaptability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1214438" y="1568053"/>
            <a:ext cx="7358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is designed for continuous learning, allowing the model to be updated with new financial data to adapt to evolving economic conditions.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571500" y="2075259"/>
            <a:ext cx="428625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2203847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4438" y="2075259"/>
            <a:ext cx="73580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Algorithm Integration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1214438" y="2323505"/>
            <a:ext cx="7358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exploration of gradient boosting models like XGBoost and CatBoost, combined with hyperparameter tuning to push accuracy beyond current benchmarks.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71500" y="2830711"/>
            <a:ext cx="428625" cy="4286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2959298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4438" y="2830711"/>
            <a:ext cx="73580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Deployment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1214438" y="3078956"/>
            <a:ext cx="7358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of a web-based interface using Streamlit or Flask to provide credit officers with an intuitive tool for instant applicant screening.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0" y="3564731"/>
            <a:ext cx="9144000" cy="1190104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2"/>
          <p:cNvSpPr/>
          <p:nvPr/>
        </p:nvSpPr>
        <p:spPr>
          <a:xfrm>
            <a:off x="4571964" y="3779044"/>
            <a:ext cx="6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1357313" y="4129088"/>
            <a:ext cx="6429375" cy="18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On-screen Show (16:9)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 Tharun thirumaran</cp:lastModifiedBy>
  <cp:revision>2</cp:revision>
  <dcterms:created xsi:type="dcterms:W3CDTF">2026-04-08T15:44:12Z</dcterms:created>
  <dcterms:modified xsi:type="dcterms:W3CDTF">2026-04-08T15:46:35Z</dcterms:modified>
</cp:coreProperties>
</file>